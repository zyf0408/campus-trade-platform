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594360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59" y="594360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594360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20239" y="594360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68879" y="594360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0" y="594360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59" y="594360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0" y="594360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3716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校园二手交易平台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需求分析报告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91840"/>
            <a:ext cx="2743200" cy="36576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CAF9"/>
                </a:solidFill>
                <a:latin typeface="微软雅黑" panose="020B0503020204020204" charset="-122"/>
              </a:defRPr>
            </a:pPr>
            <a:r>
              <a:t>Campus Second-hand Trading Platform</a:t>
            </a:r>
            <a:br/>
            <a:r>
              <a:t>Requirements Analysis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技术栈：Spring Boot + MyBatis-Plus + Vue 3 + Vite</a:t>
            </a:r>
            <a:br/>
            <a:r>
              <a:t>前端框架：Vue Router + Axios + Element Plus</a:t>
            </a:r>
            <a:br/>
            <a:r>
              <a:t>后端框架：JWT 认证 + Redis + WebSocket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9144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A44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5943600" y="1097280"/>
            <a:ext cx="5303520" cy="109728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234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项目定位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645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面向高校学生的校园二手物品交易平台，实现安全、便捷、可信赖的 C2C 交易体验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468880"/>
            <a:ext cx="5303520" cy="109728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606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核心理念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017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信用体系 + 实名认证 + 担保交易 + 智能匹配，打造校园专属的可信交易环境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3840480"/>
            <a:ext cx="5303520" cy="1097280"/>
          </a:xfrm>
          <a:prstGeom prst="roundRect">
            <a:avLst>
              <a:gd name="adj" fmla="val 3000"/>
            </a:avLst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977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覆盖范围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389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教材书籍、电子产品、生活用品、毕业甩卖等校园全品类二手交易场景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2026 年 4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105156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01  项目背景与目标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分析校园二手交易痛点与平台建设目标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105156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02  用户角色分析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77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学生用户、管理员等多角色需求拆解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1051560"/>
          </a:xfrm>
          <a:prstGeom prst="roundRect">
            <a:avLst>
              <a:gd name="adj" fmla="val 3000"/>
            </a:avLst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03  系统总体架构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77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前后端分离架构与技术选型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63240"/>
            <a:ext cx="3383280" cy="1051560"/>
          </a:xfrm>
          <a:prstGeom prst="roundRect">
            <a:avLst>
              <a:gd name="adj" fmla="val 3000"/>
            </a:avLst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04  核心功能模块概览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11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平台六大核心功能模块总览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063240"/>
            <a:ext cx="3383280" cy="1051560"/>
          </a:xfrm>
          <a:prstGeom prst="roundRect">
            <a:avLst>
              <a:gd name="adj" fmla="val 3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200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05  用户认证与信用体系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611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实名认证、信用积分、等级机制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063240"/>
            <a:ext cx="3383280" cy="105156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200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06  商品管理模块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611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商品发布、审核、搜索、智能匹配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297680"/>
            <a:ext cx="3383280" cy="105156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434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07  求购与匹配模块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846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求购发布、供需智能匹配算法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297680"/>
            <a:ext cx="3383280" cy="1051560"/>
          </a:xfrm>
          <a:prstGeom prst="roundRect">
            <a:avLst>
              <a:gd name="adj" fmla="val 3000"/>
            </a:avLst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434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08  订单与交易模块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846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下单、担保交易、自提、确认收货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297680"/>
            <a:ext cx="3383280" cy="1051560"/>
          </a:xfrm>
          <a:prstGeom prst="roundRect">
            <a:avLst>
              <a:gd name="adj" fmla="val 3000"/>
            </a:avLst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434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09  评价与纠纷模块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846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互评机制、纠纷仲裁、恶意评价申诉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532120"/>
            <a:ext cx="3383280" cy="1051560"/>
          </a:xfrm>
          <a:prstGeom prst="roundRect">
            <a:avLst>
              <a:gd name="adj" fmla="val 3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669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10  即时通讯与安全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6080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站内聊天、敏感词过滤、举报机制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5532120"/>
            <a:ext cx="3383280" cy="105156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5669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11  校园特色功能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6080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毕业活动、教材匹配、校园公告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5532120"/>
            <a:ext cx="3383280" cy="105156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5669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12  数据库表结构设计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6080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18张数据表的字段、约束与索引设计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6766560"/>
            <a:ext cx="3383280" cy="1051560"/>
          </a:xfrm>
          <a:prstGeom prst="roundRect">
            <a:avLst>
              <a:gd name="adj" fmla="val 3000"/>
            </a:avLst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6903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13  数据库 ER 关系图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7315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核心实体关系与外键依赖可视化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0" y="6766560"/>
            <a:ext cx="3383280" cy="1051560"/>
          </a:xfrm>
          <a:prstGeom prst="roundRect">
            <a:avLst>
              <a:gd name="adj" fmla="val 3000"/>
            </a:avLst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0" y="6903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14  非功能性需求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7315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性能、安全、可用性等质量需求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91440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  项目背景与目标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Background &amp;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校园二手交易现状痛点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传统校园交易依赖 QQ 群、微信群、贴吧等非专业渠道，信息分散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缺乏信用保障机制，交易纠纷频发，买卖双方信任度低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没有统一的商品分类与搜索功能，供需匹配效率低下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线下交易缺乏安全保障，无担保机制和规范的自提流程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教材等高频交易品类缺乏标准化信息，重复发布低效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55448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691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平台建设目标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6695" y="21031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构建一站式校园二手交易平台，覆盖发布-匹配-交易-售后全流程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建立基于实名认证的信用积分体系，提升交易可信度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实现供需智能匹配，提高商品与求购的对接效率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提供担保交易与规范自提流程，保障交易安全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集成即时通讯、评价纠纷、毕业活动等校园特色功能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3474720" cy="237744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核心价值主张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安全可靠 — 实名认证 + 信用体系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高效匹配 — 智能供需对接算法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便捷交易 — 担保交易 + 校园自提点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校园专属 — 教材/毕业/公告特色功能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36415" y="4114800"/>
            <a:ext cx="3474720" cy="237744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9295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目标用户群体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5015" y="46634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在校大学生（主要用户群）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毕业生（毕业季甩卖需求）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新生（教材/生活用品购买需求）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校园管理人员（平台监管）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5630" y="4114800"/>
            <a:ext cx="3474720" cy="2377440"/>
          </a:xfrm>
          <a:prstGeom prst="roundRect">
            <a:avLst>
              <a:gd name="adj" fmla="val 3000"/>
            </a:avLst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851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预期成效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4230" y="46634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降低校园交易纠纷率 60%+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提升供需匹配效率 3 倍+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覆盖全校 80%+ 学生用户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实现教材循环利用率提升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91440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  用户角色分析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User Role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5661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学生用户（买家/卖家）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【注册与认证】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注册账号、实名认证（学号/校园卡）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信用积分初始 100 分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【商品交易】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发布/搜索/浏览二手商品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发布求购需求，等待智能匹配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下单购买、担保交易、线下自提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【社交互动】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卖家买家即时通讯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交易完成互评（好评/中评/差评）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举报违规商品或用户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【信用管理】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查看信用积分与等级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恶意评价申诉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封禁处罚申诉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5661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平台管理员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031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【内容审核】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审核商品发布（通过/驳回）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审核求购需求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审核实名认证申请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【纠纷处理】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处理交易纠纷投诉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裁决处罚并扣除信用分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处理恶意评价申诉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【违规管理】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处理用户举报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封禁/解封违规账号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记录违规处罚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【平台运营】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发布校园公告通知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管理商品分类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管理自提点信息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5661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系统角色权限矩阵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1031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功能              学生    管理员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━━━━━━━━━━━━━━━━━━━━━━━━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注册/登录          ✓        ✓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实名认证           ✓        审核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发布商品           ✓        审核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发布求购           ✓        审核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下单购买           ✓        —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担保交易           ✓        管理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即时通讯           ✓        —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评价/申诉          ✓        处理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举报               ✓        处理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纠纷处理           提交     裁决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商品分类管理       —        ✓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自提点管理         —        ✓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公告发布           —        ✓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用户封禁           —        ✓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━━━━━━━━━━━━━━━━━━━━━━━━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信用积分           查询     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91440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  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303520" cy="2194560"/>
          </a:xfrm>
          <a:prstGeom prst="roundRect">
            <a:avLst>
              <a:gd name="adj" fmla="val 2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前端展示层 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Vue 3 + Vite 构建工具，组件化开发</a:t>
            </a:r>
          </a:p>
          <a:p>
            <a:pPr>
              <a:spcBef>
                <a:spcPts val="300"/>
              </a:spcBef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Vue Router 实现 SPA 路由管理</a:t>
            </a:r>
          </a:p>
          <a:p>
            <a:pPr>
              <a:spcBef>
                <a:spcPts val="300"/>
              </a:spcBef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Axios 封装 HTTP 请求，统一拦截器</a:t>
            </a:r>
          </a:p>
          <a:p>
            <a:pPr>
              <a:spcBef>
                <a:spcPts val="300"/>
              </a:spcBef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响应式 UI 设计，适配移动端浏览</a:t>
            </a:r>
          </a:p>
          <a:p>
            <a:pPr>
              <a:spcBef>
                <a:spcPts val="300"/>
              </a:spcBef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WebSocket 即时通讯客户端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5303520" cy="2560320"/>
          </a:xfrm>
          <a:prstGeom prst="roundRect">
            <a:avLst>
              <a:gd name="adj" fmla="val 2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A853"/>
                </a:solidFill>
                <a:latin typeface="微软雅黑" panose="020B0503020204020204" charset="-122"/>
              </a:defRPr>
            </a:pPr>
            <a:r>
              <a:t>后端服务层 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Spring Boot 2.x 框架，RESTful API 设计</a:t>
            </a:r>
          </a:p>
          <a:p>
            <a:pPr>
              <a:spcBef>
                <a:spcPts val="300"/>
              </a:spcBef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MyBatis-Plus ORM，简化数据库操作</a:t>
            </a:r>
          </a:p>
          <a:p>
            <a:pPr>
              <a:spcBef>
                <a:spcPts val="300"/>
              </a:spcBef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JWT + Redis 实现无状态认证与 Token 管理</a:t>
            </a:r>
          </a:p>
          <a:p>
            <a:pPr>
              <a:spcBef>
                <a:spcPts val="300"/>
              </a:spcBef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WebSocket 实现服务端消息推送</a:t>
            </a:r>
          </a:p>
          <a:p>
            <a:pPr>
              <a:spcBef>
                <a:spcPts val="300"/>
              </a:spcBef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AOP 拦截器实现权限校验与日志记录</a:t>
            </a:r>
          </a:p>
          <a:p>
            <a:pPr>
              <a:spcBef>
                <a:spcPts val="300"/>
              </a:spcBef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敏感词过滤工具保护聊天安全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554480"/>
            <a:ext cx="5669280" cy="4937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645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数据与基础设施层  Data &amp;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03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MySQL 数据库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核心业务数据持久化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7860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17 张业务表，覆盖全场景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77977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MyBatis-Plus 自动填充/逻辑删除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540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Redis 缓存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2841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Token 会话管理与黑名单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2958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热点数据缓存加速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3075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分布式锁支持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0050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Elasticsearch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7939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商品全文搜索引擎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4805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求购需求模糊匹配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68172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关键词高亮与排序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9560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RabbitMQ 消息队列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23036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异步消息通知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43153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订单状态变更事件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63270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匹配结果推送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9070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文件存储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618134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商品图片/证据图片上传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638251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校园卡照片存储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583680"/>
            <a:ext cx="1124712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6263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RESTful API  |  JSON 数据交换  |  CORS 跨域支持  |  接口文档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91440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  核心功能模块概览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Core Functional Modules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520440" cy="237744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用户认证与信用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用户注册/登录（JWT 认证）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实名认证（学号/校园卡）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信用积分体系（100 分起）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信用等级评定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违规处罚与封禁机制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94760"/>
            <a:ext cx="315468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60" y="1554480"/>
            <a:ext cx="3520440" cy="237744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6916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商品管理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商品发布（图文/分类/定价）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商品审核（管理员）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商品搜索与浏览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批量发布支持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商品状态管理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3794760"/>
            <a:ext cx="315468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520440" cy="2377440"/>
          </a:xfrm>
          <a:prstGeom prst="roundRect">
            <a:avLst>
              <a:gd name="adj" fmla="val 3000"/>
            </a:avLst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916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求购与智能匹配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0312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求购需求发布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关键词智能匹配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匹配评分排序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供需双向通知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教材 ISBN 专项匹配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794760"/>
            <a:ext cx="3154680" cy="36576"/>
          </a:xfrm>
          <a:prstGeom prst="rect">
            <a:avLst/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3520440" cy="2377440"/>
          </a:xfrm>
          <a:prstGeom prst="roundRect">
            <a:avLst>
              <a:gd name="adj" fmla="val 3000"/>
            </a:avLst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订单与交易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0916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下单购买流程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担保交易机制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线下自提点管理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自提验证码确认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自动确认收货（48h）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00800"/>
            <a:ext cx="315468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51960" y="4160520"/>
            <a:ext cx="3520440" cy="2377440"/>
          </a:xfrm>
          <a:prstGeom prst="roundRect">
            <a:avLst>
              <a:gd name="adj" fmla="val 3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2976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评价与纠纷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70916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交易完成互评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好评/中评/差评体系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恶意评价申诉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交易纠纷投诉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管理员仲裁裁决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6400800"/>
            <a:ext cx="3154680" cy="36576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6720" y="4160520"/>
            <a:ext cx="3520440" cy="2377440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2976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即时通讯与安全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70916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买卖双方实时聊天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WebSocket 消息推送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敏感词过滤检测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用户/商品举报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违规记录追踪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6400800"/>
            <a:ext cx="3154680" cy="36576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91440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  用户认证与信用体系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User Authentication &amp; Credit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认证流程设计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1. 用户注册：用户名(3-20位) + 密码(6-20位) + 可选手机/邮箱/昵称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2. 普通登录：用户名密码登录，JWT 签发 Token（有效期 24h）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3. 实名认证：提交学号、姓名、院系、宿舍信息 + 校园卡照片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4. 认证审核：管理员审核通过后 authStatus 变更为已认证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5. CAS 对接：预留高校统一认证平台接口，可扩展单点登录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554480"/>
            <a:ext cx="548640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691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JWT 认证机制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6695" y="21031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Token 签发：登录成功后生成 JWT，存储于 Redis（24h 过期）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Token 校验：拦截器统一校验 Token 有效性与过期时间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Token 黑名单：登出时加入黑名单，防止 Token 被复用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接口白名单：注册/登录/商品列表等公开接口免认证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Token 刷新：每次登录更新 Redis 中的 Token 记录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06240"/>
            <a:ext cx="3657600" cy="237744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信用积分规则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548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初始积分：100 分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好评交易：+1 分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中评交易：+0 分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差评交易：-3 分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违规举报属实：+1 分（月上限 3）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捐赠物品：+2 分（月上限 6）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30 天无违规：+2 分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恶意评价：-3 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206240"/>
            <a:ext cx="3566160" cy="237744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信用等级体系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7548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EXCELLENT — 优秀（高信用）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GOOD — 良好（默认）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NORMAL — 一般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POOR — 较差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BLACKLIST — 黑名单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等级影响：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交易权限 / 是否需担保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206240"/>
            <a:ext cx="3474720" cy="2377440"/>
          </a:xfrm>
          <a:prstGeom prst="roundRect">
            <a:avLst>
              <a:gd name="adj" fmla="val 3000"/>
            </a:avLst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4343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违规处罚机制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7548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封禁状态（临时/永久）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封禁原因记录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封禁时间管理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信用分扣除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违规记录存档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申诉通道：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用户可提交封禁申诉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91440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  商品管理模块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Product Management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6576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商品发布与管理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【商品信息】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标题、描述、原价、售价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成色等级（新旧程度）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关键词标签（用于匹配）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多图上传（JSON 存储）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是否可议价标识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【特色字段】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ISBN 编号（教材类）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自提位置与详情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批量发布支持（batchId）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【状态管理】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在售 → 已预订 → 已售出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在售 → 已下架（卖家操作）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在售 → 审核驳回（管理员）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6576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商品审核与搜索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0312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【审核流程】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发布后进入待审核状态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管理员审核通过/驳回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驳回时填写审核备注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【搜索功能】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关键词模糊搜索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分类筛选（树形分类）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价格区间过滤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成色条件筛选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Elasticsearch 全文检索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【浏览数据】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浏览次数统计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收藏/想要次数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匹配次数记录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54480"/>
            <a:ext cx="338328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91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商品分类体系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1031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树形分类结构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parentId 支持父子关系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排序序号控制显示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分类图标配置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分类状态启停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示例分类：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教材书籍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  ├── 计算机类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  ├── 语言文学类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  └── 理工类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电子产品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  ├── 手机配件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  ├── 电脑配件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  └── 耳机音箱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生活用品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运动器材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服饰鞋帽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91440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07  求购与匹配模块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Purchase Request &amp; Smart Matching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求购需求发布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买家可发布求购信息，包含：标题、描述、分类、预算区间（最低/最高价）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成色要求、关键词标签、参考图片、自提位置偏好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是否可议价、是否只接受高信用卖家、求购有效期设置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发布后进入审核流程，审核通过后对卖家可见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55448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691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智能匹配算法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6695" y="21031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基于关键词的供需匹配：商品关键词 ↔ 求购关键词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匹配评分机制：根据相关度计算 matchScore 并排序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教材专项匹配：通过 ISBN 编号精确匹配教材供需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匹配结果双向通知：通知卖家和买家，提升成交转化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5486400" cy="2468880"/>
          </a:xfrm>
          <a:prstGeom prst="roundRect">
            <a:avLst>
              <a:gd name="adj" fmla="val 3000"/>
            </a:avLst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匹配流程示意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卖家发布商品 → 填写关键词/ISBN → 商品入库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    ↓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买家发布求购 → 填写关键词/预算 → 求购入库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    ↓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系统定时匹配 → 关键词比对 + ISBN 匹配 → 生成匹配记录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    ↓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匹配结果推送 → 双方收到通知 → 买家查看商品 → 下单购买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4114800"/>
            <a:ext cx="5486400" cy="246888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0975" y="4251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教材匹配特色功能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6695" y="4663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Textbook 数据库存储教材标准化信息：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ISBN、书名、作者、出版社、版次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对应课程名、适用专业、适用年级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匹配逻辑：商品 ISBN = 求购 ISBN → 精确匹配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辅助信息：课程名/专业/年级 → 提高匹配精准度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91440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08  订单与交易模块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Order &amp; Transaction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6576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订单状态流转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【订单状态机】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待付款 (PENDING_PAYMENT)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    ↓ 买家付款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待发货/待自提 (PAID)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    ↓ 卖家确认发货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待收货 (SHIPPED)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    ↓ 买家确认收货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已完成 (COMPLETED)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任意阶段 → 已取消 (CANCELLED)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【自动确认】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超过 48 小时未确认 → 自动确认收货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可申请延长确认（+24h）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6576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担保交易机制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0312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【触发条件】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金额超过阈值（50 元）自动启用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买家也可手动选择担保交易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【担保流程】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1. 买家付款 → 资金由平台托管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2. 卖家发货 → 买家收到商品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3. 买家确认收货 → 资金释放给卖家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【担保状态】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NONE → HELD → RELEASED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NONE → HELD → REFUNDED（纠纷退款）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【安全保障】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确认截止时间管理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纠纷期间资金冻结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54480"/>
            <a:ext cx="338328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91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线下自提流程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1031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【自提点管理】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校园自提点信息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名称、地址、坐标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联系人、联系电话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营业时间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【自提流程】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1. 买家下单时选择自提点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2. 预约自提时间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3. 系统生成自提验证码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4. 到达自提点出示验证码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5. 卖家验证后完成交接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【安全机制】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验证码防伪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自提时间预约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91440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09  评价与纠纷模块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Review &amp; Dispute Resolution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评价体系设计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交易完成后双方互评：好评(+1信用)、中评(+0)、差评(-3信用)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评价包含文字内容，支持回复功能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评价时限：交易完成后 24 小时内必须评价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恶意评价标记与申诉机制：被评方可提交申诉，管理员审核裁决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55448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691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纠纷处理流程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6695" y="21031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用户提交纠纷投诉 → 填写描述 + 上传证据图片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管理员受理 → 审查证据 → 作出裁决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裁决结果：退款/赔偿/驳回 + 信用分处罚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纠纷处理时限：24 小时内处理，48 小时内可申诉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5486400" cy="2468880"/>
          </a:xfrm>
          <a:prstGeom prst="roundRect">
            <a:avLst>
              <a:gd name="adj" fmla="val 3000"/>
            </a:avLst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纠纷状态流转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待处理 (PENDING) → 用户提交投诉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    ↓ 管理员受理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处理中 (PROCESSING) → 审查证据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    ↓ 作出裁决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已解决 (RESOLVED) → 执行处罚/退款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或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已驳回 (REJECTED) → 投诉不成立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4114800"/>
            <a:ext cx="5486400" cy="2468880"/>
          </a:xfrm>
          <a:prstGeom prst="roundRect">
            <a:avLst>
              <a:gd name="adj" fmla="val 3000"/>
            </a:avLst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0975" y="4251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举报机制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6695" y="4663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举报目标类型：商品 / 用户 / 评价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举报需填写原因并上传证据图片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管理员审核举报 → 确认违规 → 执行处罚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举报属实奖励：举报人 +1 信用分（月上限 3 次）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处罚联动：违规记录 + 信用扣分 + 账号封禁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91440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10  即时通讯与校园特色功能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Chat, Security &amp; Campus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65760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即时通讯功能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基于 WebSocket 的实时消息传输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支持文本/图片等多种消息类型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会话管理（conversationId）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消息已读状态追踪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关联订单上下文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65760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安全防护机制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031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敏感词过滤：聊天内容实时检测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敏感消息标记（isSensitive）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举报机制：商品/用户/评价举报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违规记录追踪与处罚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JWT Token 安全认证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5448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91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隐私保护设计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1031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手机号脱敏显示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真实姓名脱敏显示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宿舍房间号脱敏显示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密码字段永不返回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个人信息按权限展示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3657600" cy="246888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毕业季活动模块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634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发起毕业甩卖活动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活动标题/描述/留言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折扣类型配置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- 折扣比例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- 固定优惠金额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活动时间区间设置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活动状态管理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114800"/>
            <a:ext cx="3657600" cy="246888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251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校园公告系统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6634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管理员发布公告通知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公告标题/内容/类型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置顶公告支持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公告状态管理（发布/下架）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关联发布管理员信息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面向全校学生推送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4114800"/>
            <a:ext cx="3383280" cy="2468880"/>
          </a:xfrm>
          <a:prstGeom prst="roundRect">
            <a:avLst>
              <a:gd name="adj" fmla="val 3000"/>
            </a:avLst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4251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自提点管理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6634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校园自提点信息维护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名称/地址/坐标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校区归属标识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联系人与电话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营业时间配置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自提点状态管理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91440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12  数据库表结构设计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Database Table Structure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17320"/>
            <a:ext cx="3749039" cy="987552"/>
          </a:xfrm>
          <a:prstGeom prst="roundRect">
            <a:avLst>
              <a:gd name="adj" fmla="val 2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3560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user  (用户表)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43560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27字段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id(主键), username(唯一), password, phone, email, avatar, nickname, student_no(唯一), real_name, department, dormitory_building, dormitory_room, campus_card_photo, auth_type, auth_status, credit_score, credit_level, status, ban_time, ban_reason, has_appealed_ban, last_login_time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417320"/>
            <a:ext cx="3749039" cy="987552"/>
          </a:xfrm>
          <a:prstGeom prst="roundRect">
            <a:avLst>
              <a:gd name="adj" fmla="val 2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43560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product  (商品表)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43560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20字段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645920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id(主键), user_id→user, category_id→category, title, description, price, original_price, condition_level, keywords, isbn→textbook, images, is_negotiable, pickup_location, status, audit_status, view_count, want_count, match_count, is_batch, batch_id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749039" cy="987552"/>
          </a:xfrm>
          <a:prstGeom prst="roundRect">
            <a:avLst>
              <a:gd name="adj" fmla="val 2000"/>
            </a:avLst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3560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orders  (订单表)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143560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20字段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645920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id(主键), order_no(唯一), product_id→product, buyer_id→user, seller_id→user, purchase_request_id→purchase_request, price, is_escrow, escrow_status, pickup_point_id→pickup_point, pickup_time, pickup_code, status, confirm_deadline, buyer_reviewed, seller_reviewed, review_deadline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2496312"/>
            <a:ext cx="3749039" cy="987552"/>
          </a:xfrm>
          <a:prstGeom prst="roundRect">
            <a:avLst>
              <a:gd name="adj" fmla="val 2000"/>
            </a:avLst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5146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purchase_request  (求购表)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5146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20字段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724912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id(主键), user_id→user, category_id→category, title, description, budget_min, budget_max, condition_requirement, keywords, reference_images, is_negotiable, only_high_credit, status, audit_status, match_count, expire_time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2496312"/>
            <a:ext cx="3749039" cy="987552"/>
          </a:xfrm>
          <a:prstGeom prst="roundRect">
            <a:avLst>
              <a:gd name="adj" fmla="val 2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25146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category  (商品分类表)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5146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6字段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724912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id(主键), name, parent_id(自引用), sort_order, icon, status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2496312"/>
            <a:ext cx="3749039" cy="987552"/>
          </a:xfrm>
          <a:prstGeom prst="roundRect">
            <a:avLst>
              <a:gd name="adj" fmla="val 2000"/>
            </a:avLst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5146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review  (评价表)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25146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16字段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724912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id(主键), order_id→orders, reviewer_id→user, reviewee_id→user, type, content, is_malicious, is_revoked, reply_content, appeal_status, appeal_reason, appeal_result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3575304"/>
            <a:ext cx="3749039" cy="987552"/>
          </a:xfrm>
          <a:prstGeom prst="roundRect">
            <a:avLst>
              <a:gd name="adj" fmla="val 2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59359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chat_message  (聊天消息表)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359359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9字段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3803904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id(主键), conversation_id, sender_id→user, receiver_id→user, order_id→orders, content, msg_type, is_read, is_sensitive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6240" y="3575304"/>
            <a:ext cx="3749039" cy="987552"/>
          </a:xfrm>
          <a:prstGeom prst="roundRect">
            <a:avLst>
              <a:gd name="adj" fmla="val 2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0" y="359359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dispute  (纠纷表)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359359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15字段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3803904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id(主键), order_id→orders, complainant_id→user, respondent_id→user, type, description, evidence_images, status, result, penalty_score, penalty_user_id→user, handler_id→admin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3575304"/>
            <a:ext cx="3749039" cy="987552"/>
          </a:xfrm>
          <a:prstGeom prst="roundRect">
            <a:avLst>
              <a:gd name="adj" fmla="val 2000"/>
            </a:avLst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359359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report  (举报表)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359359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12字段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803904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id(主键), reporter_id→user, target_type, target_id, reason, evidence_images, status, handler_id→admin, handle_result, handle_time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4654296"/>
            <a:ext cx="3749039" cy="987552"/>
          </a:xfrm>
          <a:prstGeom prst="roundRect">
            <a:avLst>
              <a:gd name="adj" fmla="val 2000"/>
            </a:avLst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67258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credit_record  (信用记录表)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467258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9字段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4882896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id(主键), user_id→user, order_id→orders, type, score_change, before_score, after_score, description, operator_id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06240" y="4654296"/>
            <a:ext cx="3749039" cy="987552"/>
          </a:xfrm>
          <a:prstGeom prst="roundRect">
            <a:avLst>
              <a:gd name="adj" fmla="val 2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80" y="467258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match_record  (匹配记录表)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467258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7字段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97680" y="4882896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id(主键), product_id→product, purchase_request_id→purchase_request, match_score, seller_notified, buyer_notified, status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38160" y="4654296"/>
            <a:ext cx="3749039" cy="987552"/>
          </a:xfrm>
          <a:prstGeom prst="roundRect">
            <a:avLst>
              <a:gd name="adj" fmla="val 2000"/>
            </a:avLst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0" y="467258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admin  (管理员表)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467258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7字段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882896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id(主键), username(唯一), password, real_name, role, campus, status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5733288"/>
            <a:ext cx="3749039" cy="987552"/>
          </a:xfrm>
          <a:prstGeom prst="roundRect">
            <a:avLst>
              <a:gd name="adj" fmla="val 2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575157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campus_notice  (校园通知表)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91840" y="575157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7字段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5961888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id(主键), admin_id→admin, title, content, type, is_top, status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06240" y="5733288"/>
            <a:ext cx="3749039" cy="987552"/>
          </a:xfrm>
          <a:prstGeom prst="roundRect">
            <a:avLst>
              <a:gd name="adj" fmla="val 2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97680" y="575157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textbook  (教材信息表)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0" y="575157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9字段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97680" y="5961888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id(主键), isbn(唯一), title, author, publisher, edition, course_name, major, grade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38160" y="5733288"/>
            <a:ext cx="3749039" cy="987552"/>
          </a:xfrm>
          <a:prstGeom prst="roundRect">
            <a:avLst>
              <a:gd name="adj" fmla="val 2000"/>
            </a:avLst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0" y="575157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graduation_activity  (毕业活动表)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55680" y="575157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10字段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5961888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id(主键), user_id→user, title, description, message, discount_type, discount_value, start_time, end_time, status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4320" y="6812279"/>
            <a:ext cx="3749039" cy="987552"/>
          </a:xfrm>
          <a:prstGeom prst="roundRect">
            <a:avLst>
              <a:gd name="adj" fmla="val 2000"/>
            </a:avLst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6830567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pickup_point  (自提点表)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91840" y="6830567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10字段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7040879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id(主键), name, address, longitude, latitude, campus, contact_person, contact_phone, open_time, status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206240" y="6812279"/>
            <a:ext cx="3749039" cy="987552"/>
          </a:xfrm>
          <a:prstGeom prst="roundRect">
            <a:avLst>
              <a:gd name="adj" fmla="val 2000"/>
            </a:avLst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97680" y="6830567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violation_record  (违规记录表)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3760" y="6830567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9字段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97680" y="7040879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id(主键), user_id→user, type, target_type, target_id, description, penalty, score_deducted, handler_id→admin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138160" y="6812279"/>
            <a:ext cx="3749039" cy="987552"/>
          </a:xfrm>
          <a:prstGeom prst="roundRect">
            <a:avLst>
              <a:gd name="adj" fmla="val 2000"/>
            </a:avLst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29600" y="6830567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operation_log  (操作日志表)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155680" y="6830567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9字段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0" y="7040879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id(主键), operator_id, operator_type, module, action, target_type, target_id, detail, ip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91440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12  数据库表结构详情 — 核心业务表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Core Business Tables Detail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3749039" cy="5212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3749039" cy="27432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89888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user 用户表 (27字段)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91640"/>
            <a:ext cx="356615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PK  id              BIGINT       AUTO_INCREMENT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UQ  username        VARCHAR(50)  NOT NULL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password        VARCHAR(255) BCrypt加密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phone           VARCHAR(20)  加密存储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email           VARCHAR(100)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avatar          VARCHAR(500)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nickname        VARCHAR(50)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UQ  student_no      VARCHAR(50)  学号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real_name       VARCHAR(50)  加密存储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department      VARCHAR(100) 院系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dormitory_building VARCHAR(100)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dormitory_room  VARCHAR(50)  加密存储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campus_card_photo VARCHAR(500)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auth_type       TINYINT  0/1/2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auth_status     TINYINT  0/1/2/3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auth_time       DATETIME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credit_score    INT      默认100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credit_level    VARCHAR(20) 默认GOOD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status          TINYINT  0/1/2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ban_time        DATETIME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ban_reason      VARCHAR(500)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has_appealed_ban TINYINT  0/1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last_login_time DATETIME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created_time    DATETIME 自动填充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updated_time    DATETIME 自动更新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deleted         TINYINT  逻辑删除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IDX: credit_score, auth_status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749039" cy="5212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0" y="1371600"/>
            <a:ext cx="3749039" cy="27432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389888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product 商品表 (20字段)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691640"/>
            <a:ext cx="356615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PK  id              BIGINT       AUTO_INCREMENT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user_id         BIGINT  → user.id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category_id     BIGINT  → category.id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title           VARCHAR(200) NOT NULL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description     TEXT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price           DECIMAL(10,2) NOT NULL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original_price  DECIMAL(10,2)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condition_level TINYINT  1-10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keywords        VARCHAR(500) 逗号分隔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isbn            VARCHAR(20) → textbook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images          TEXT     JSON数组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is_negotiable   TINYINT  0/1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pickup_location VARCHAR(200)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pickup_detail   VARCHAR(200) 加密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status          TINYINT  0/1/2/3/4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audit_status    TINYINT  0/1/2/3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audit_remark    VARCHAR(500)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audit_time      DATETIME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view_count      INT      默认0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want_count      INT      默认0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match_count     INT      默认0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is_batch        TINYINT  0/1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batch_id        VARCHAR(50)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created/updated/deleted 同上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FT  ft_title_desc(title,description)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IDX: user_id, category_id, status, price, isbn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749039" cy="5212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749039" cy="27432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389888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orders 订单表 (20字段)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691640"/>
            <a:ext cx="356615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PK  id              BIGINT  AUTO_INCREMENT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UQ  order_no        VARCHAR(50)  NOT NULL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product_id      BIGINT  → product.id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buyer_id        BIGINT  → user.id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seller_id       BIGINT  → user.id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purchase_request_id BIGINT→PR.id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price           DECIMAL(10,2) NOT NULL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is_escrow       TINYINT  0/1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escrow_status   TINYINT  0/1/2/3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pickup_point_id BIGINT  → PP.id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pickup_time     DATETIME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pickup_code     VARCHAR(20)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status          TINYINT  0-7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confirm_deadline DATETIME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buyer_reviewed  TINYINT  0/1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seller_reviewed TINYINT  0/1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review_deadline DATETIME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cancel_reason   VARCHAR(500)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remark          VARCHAR(500)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created/updated/deleted 同上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IDX: buyer_id, seller_id, product_id,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91440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12  数据库表结构详情 — 交易与互动表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Transaction &amp; Interaction Tables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2880360" cy="5212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880360" cy="27432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89888"/>
            <a:ext cx="2697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purchase_request 求购表 (20字段)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91640"/>
            <a:ext cx="2697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PK  id              BIGINT  AUTO_INCREMENT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user_id         BIGINT  → user.id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category_id     BIGINT  → category.id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title           VARCHAR(200) NOT NULL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description     TEXT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budget_min      DECIMAL(10,2)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budget_max      DECIMAL(10,2)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condition_requirement TINYINT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keywords        VARCHAR(500)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reference_images TEXT    JSON数组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is_negotiable   TINYINT  0/1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only_high_credit TINYINT 0/1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pickup_location VARCHAR(200)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status          TINYINT  0-5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audit_status    TINYINT  0-3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audit_remark    VARCHAR(500)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audit_time      DATETIME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match_count     INT      默认0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expire_time     DATETIME 30天过期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created/updated/deleted 同上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IDX: user_id,category_id,status,expire_time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71600"/>
            <a:ext cx="2880360" cy="5212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1371600"/>
            <a:ext cx="2880360" cy="27432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389888"/>
            <a:ext cx="2697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match_record 匹配表 (7字段)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691640"/>
            <a:ext cx="2697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PK  id              BIGINT  AUTO_INCREMENT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product_id      BIGINT  → product.id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purchase_request_id → PR.id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match_score     DECIMAL(5,2)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seller_notified TINYINT  0/1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buyer_notified  TINYINT  0/1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status          TINYINT  0/1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created_time    DATETIME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UK(product_id,purchase_request_id)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IDX: product_id, purchase_request_id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2788920" cy="5212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2788920" cy="27432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89888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review 评价表 (16字段)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2606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PK  id              BIGINT  AUTO_INCREMENT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order_id        BIGINT  → orders.id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reviewer_id     BIGINT  → user.id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reviewee_id     BIGINT  → user.id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type            TINYINT  1/2/3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content         VARCHAR(500)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is_malicious    TINYINT  0/1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is_revoked      TINYINT  0/1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reply_content   VARCHAR(500)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reply_time      DATETIME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appeal_status   TINYINT  0-3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appeal_reason   VARCHAR(500)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appeal_time     DATETIME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appeal_result   VARCHAR(500)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appeal_process_time DATETIME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is_visible      TINYINT  0/1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created/updated/deleted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IDX: order_id,reviewer_id,reviewee_id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743200" cy="5212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35440" y="1371600"/>
            <a:ext cx="2743200" cy="27432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389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chat_message 聊天表 (9字段)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691640"/>
            <a:ext cx="2560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PK  id              BIGINT  AUTO_INCREMENT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conversation_id VARCHAR(100)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sender_id       BIGINT  → user.id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receiver_id     BIGINT  → user.id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order_id        BIGINT  → orders.id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content         TEXT     NOT NULL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msg_type        TINYINT  1/2/3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is_read         TINYINT  0/1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is_sensitive    TINYINT  0/1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created_time    DATETIME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IDX: conversation_id, sender_id,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 receiver_id, created_time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91440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12  数据库表结构详情 — 管理与辅助表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Admin &amp; Auxiliary Tables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2331720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331720" cy="27432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8988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admin 管理员表 (7字段)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91640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PK  id              BIGINT  AUTO_INCREMENT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UQ  username        VARCHAR(50) NOT NULL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password        VARCHAR(255)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real_name       VARCHAR(50)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role            VARCHAR(30)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campus          VARCHAR(100)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status          TINYINT  0/1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created/updated/deleted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371600"/>
            <a:ext cx="2331720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1371600"/>
            <a:ext cx="2331720" cy="27432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38988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category 分类表 (6字段)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691640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PK  id              BIGINT  AUTO_INCREMENT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name            VARCHAR(50) NOT NULL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parent_id       BIGINT  自引用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sort_order      INT      默认0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icon            VARCHAR(500)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status          TINYINT  0/1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created/updated/deleted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树形结构: parent_id=0为顶级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1371600"/>
            <a:ext cx="2331720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12080" y="1371600"/>
            <a:ext cx="2331720" cy="27432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38988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textbook 教材表 (9字段)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691640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PK  id              BIGINT  AUTO_INCREMENT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UQ  isbn            VARCHAR(20) NOT NULL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title           VARCHAR(200) NOT NULL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author          VARCHAR(100)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publisher       VARCHAR(100)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edition         VARCHAR(50)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course_name     VARCHAR(100)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major           VARCHAR(100)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grade           VARCHAR(50)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IDX: course_name, major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371600"/>
            <a:ext cx="2103120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80960" y="1371600"/>
            <a:ext cx="2103120" cy="27432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38988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pickup_point 自提点表 (10字段)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69164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PK  id              BIGINT  AUTO_INCREMENT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name            VARCHAR(100)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address         VARCHAR(300)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longitude       DECIMAL(10,6)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latitude        DECIMAL(10,6)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campus          VARCHAR(100)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contact_person  VARCHAR(50)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contact_phone   VARCHAR(20)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open_time       VARCHAR(100)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status          TINYINT  0/1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1371600"/>
            <a:ext cx="2103120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21240" y="1371600"/>
            <a:ext cx="2103120" cy="27432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138988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campus_notice 通知表 (7字段)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169164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PK  id              BIGINT  AUTO_INCREMENT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admin_id        BIGINT  → admin.id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title           VARCHAR(200)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content         TEXT     NOT NULL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type            TINYINT  1-4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is_top          TINYINT  0/1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status          TINYINT  0/1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created/updated/deleted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IDX: type, status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114800"/>
            <a:ext cx="2331720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4320" y="4114800"/>
            <a:ext cx="2331720" cy="27432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13308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dispute 纠纷表 (15字段)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434840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PK  id              BIGINT  AUTO_INCREMENT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order_id        BIGINT  → orders.id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complainant_id  BIGINT  → user.id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respondent_id   BIGINT  → user.id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type            TINYINT  1-4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description     TEXT     NOT NULL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evidence_images TEXT     JSON数组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status          TINYINT  0-5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result          VARCHAR(500)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penalty_score   INT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penalty_user_id BIGINT  → user.id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handler_id      BIGINT  → admin.id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handle_time     DATETIME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created/updated/deleted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IDX: order_id,complainant_id,status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4114800"/>
            <a:ext cx="2331720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43200" y="4114800"/>
            <a:ext cx="2331720" cy="27432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413308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report 举报表 (12字段)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434840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PK  id              BIGINT  AUTO_INCREMENT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reporter_id     BIGINT  → user.id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target_type     TINYINT  1-5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target_id       BIGINT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reason          VARCHAR(500)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evidence_images TEXT     JSON数组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status          TINYINT  0-3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handler_id      BIGINT  → admin.id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handle_result   VARCHAR(500)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handle_time     DATETIME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created/updated/deleted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IDX: reporter_id, (type,target_id), status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0" y="4114800"/>
            <a:ext cx="2331720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212080" y="4114800"/>
            <a:ext cx="2331720" cy="27432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0" y="413308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credit_record 信用记录 (9字段)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4434840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PK  id              BIGINT  AUTO_INCREMENT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user_id         BIGINT  → user.id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order_id        BIGINT  → orders.id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type            VARCHAR(30)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score_change    INT  正/负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before_score    INT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after_score     INT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description     VARCHAR(500)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operator_id     BIGINT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created_time    DATETIME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IDX: user_id, type, created_time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4114800"/>
            <a:ext cx="2103120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80960" y="4114800"/>
            <a:ext cx="2103120" cy="27432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413308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violation_record 违规 (9字段)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43484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PK  id              BIGINT  AUTO_INCREMENT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user_id         BIGINT  → user.id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type            VARCHAR(50)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target_type     TINYINT  1-5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target_id       BIGINT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description     VARCHAR(500)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penalty         VARCHAR(200)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score_deducted  INT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handler_id      BIGINT  → admin.id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created_time    DATETIME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IDX: user_id, type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21240" y="4114800"/>
            <a:ext cx="2103120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921240" y="4114800"/>
            <a:ext cx="2103120" cy="27432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12680" y="413308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graduation_activity 活动(10字段)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12680" y="443484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PK  id              BIGINT  AUTO_INCREMENT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FK  user_id         BIGINT  → user.id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title           VARCHAR(200)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description     TEXT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message         TEXT  寄语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discount_type   TINYINT  1/2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discount_value  DECIMAL(5,2)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start_time      DATETIME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end_time        DATETIME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status          TINYINT  0/1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created/updated/deleted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IDX: user_id, status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91440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12  数据库表结构详情 — 日志与关系统计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Operation Log &amp; Relationship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3749039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3749039" cy="27432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89888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operation_log 操作日志表 (9字段)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91640"/>
            <a:ext cx="356615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PK  id              BIGINT  AUTO_INCREMENT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operator_id     BIGINT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operator_type   TINYINT  1/2/3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module          VARCHAR(50) NOT NULL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action          VARCHAR(100) NOT NULL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target_type     VARCHAR(50)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target_id       BIGINT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detail          TEXT     JSON格式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ip              VARCHAR(50)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created_time    DATETIME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IDX: (operator_id,operator_type),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     module, created_time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202A44"/>
                </a:solidFill>
                <a:latin typeface="Consolas" panose="020B0609020204030204"/>
              </a:defRPr>
            </a:pPr>
            <a:r>
              <a:t>operator_type: 1-用户 2-管理员 3-系统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7498079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08760"/>
            <a:ext cx="7132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表关系统计汇总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774190"/>
            <a:ext cx="7040879" cy="272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共 18 张数据表，覆盖用户、商品、订单、评价、聊天、纠纷、管理等全部业务场景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外键关系总计 30+ 条：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  user 表被引用 15+ 次（商品/订单/求购/评价/聊天/纠纷/举报/信用/违规/活动）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  orders 表被引用 6 次（评价/纠纷/聊天/信用记录）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  product 表被引用 2 次（订单/匹配记录）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  purchase_request 表被引用 2 次（订单/匹配记录）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  category 表被引用 2 次（商品/求购）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  admin 表被引用 4 次（通知/纠纷/举报/违规记录处理人）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唯一约束 6 个：user.username, user.student_no, orders.order_no,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  admin.username, textbook.isbn, match_record(product+PR)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全文索引 1 个：product 表 ft_title_desc(title, description)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数据库设计特点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9377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InnoDB 引擎，支持事务与外键约束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utf8mb4 字符集，支持 emoji 等特殊字符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逻辑删除（deleted 字段），数据可恢复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自动时间戳（created_time / updated_time）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驼峰命名映射（MyBatis-Plus mapUnderscoreToCamelCase）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敏感数据加密存储（password/phone/real_name/dormitory_room）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60060" y="4846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索引设计策略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3492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主键索引：所有表均使用 BIGINT AUTO_INCREMENT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唯一索引：username, student_no, order_no, isbn 等业务唯一字段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普通索引：user_id, category_id, status 等高频查询字段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组合索引：report(target_type, target_id), operation_log(operator)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  全文索引：product(title, description) 支持中文全文检索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914400"/>
          </a:xfrm>
          <a:prstGeom prst="roundRect">
            <a:avLst>
              <a:gd name="adj" fmla="val 2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12  非功能性需求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Non-functional 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566160" cy="228600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性能需求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页面加载时间 &lt; 3 秒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API 响应时间 &lt; 500ms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支持 200+ 并发用户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数据库连接池：最大 20 连接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Redis 缓存热点数据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ES 全文检索加速搜索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566160" cy="228600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安全需求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031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JWT 无状态认证 + Token 黑名单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密码 BCrypt 加密存储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CORS 跨域安全配置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敏感词实时过滤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个人信息脱敏展示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文件上传大小限制（10MB）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566160" cy="2286000"/>
          </a:xfrm>
          <a:prstGeom prst="roundRect">
            <a:avLst>
              <a:gd name="adj" fmla="val 3000"/>
            </a:avLst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可用性需求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1031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前后端分离，独立部署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RESTful API 标准化设计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响应式 UI，适配多终端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友好的错误提示信息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操作日志可追溯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数据逻辑删除，可恢复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356616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可维护性需求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634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分层架构：Controller → Service → Mapper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MyBatis-Plus 简化 CRUD 操作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统一异常处理（GlobalExceptionHandler）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统一响应封装（Result 工具类）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代码规范：驼峰映射、自动填充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114800"/>
            <a:ext cx="356616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251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可扩展性需求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6634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模块化设计，功能解耦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预留 CAS 统一认证接口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可扩展支付渠道对接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可扩展推送通知渠道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数据表设计支持功能迭代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4114800"/>
            <a:ext cx="356616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251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A44"/>
                </a:solidFill>
                <a:latin typeface="微软雅黑" panose="020B0503020204020204" charset="-122"/>
              </a:defRPr>
            </a:pPr>
            <a:r>
              <a:t>技术栈总结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6634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后端：Spring Boot + MyBatis-Plus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前端：Vue 3 + Vite + Vue Router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数据库：MySQL + Redis + 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消息队列：RabbitMQ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认证：JWT + Redis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通讯：WebSocket + REST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B7A"/>
                </a:solidFill>
                <a:latin typeface="微软雅黑" panose="020B0503020204020204" charset="-122"/>
              </a:defRPr>
            </a:pPr>
            <a: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19646</Words>
  <Application>WPS 演示</Application>
  <PresentationFormat>On-screen Show (4:3)</PresentationFormat>
  <Paragraphs>1190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Valar Morghulis</cp:lastModifiedBy>
  <cp:revision>2</cp:revision>
  <dcterms:created xsi:type="dcterms:W3CDTF">2013-01-27T09:14:00Z</dcterms:created>
  <dcterms:modified xsi:type="dcterms:W3CDTF">2026-05-08T06:58:25Z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165C73747B164E62B65D471D299442D8_12</vt:lpwstr>
  </property>
  <property fmtid="{D5CDD505-2E9C-101B-9397-08002B2CF9AE}" pid="3" name="KSOProductBuildVer">
    <vt:lpwstr>2052-12.1.0.26375</vt:lpwstr>
  </property>
</Properties>
</file>